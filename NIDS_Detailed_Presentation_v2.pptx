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7315200" cy="41148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400" b="1">
                <a:solidFill>
                  <a:srgbClr val="38BDF8"/>
                </a:solidFill>
                <a:latin typeface="Segoe UI"/>
              </a:defRPr>
            </a:pPr>
            <a:r>
              <a:t>🛡️ NIDS Sentinel</a:t>
            </a:r>
          </a:p>
          <a:p>
            <a:pPr algn="ctr">
              <a:spcBef>
                <a:spcPts val="2000"/>
              </a:spcBef>
              <a:defRPr sz="2200" b="0">
                <a:solidFill>
                  <a:srgbClr val="94A3B8"/>
                </a:solidFill>
                <a:latin typeface="Segoe UI"/>
              </a:defRPr>
            </a:pPr>
            <a:r>
              <a:t>AI-Powered Real-Time Network Intrusion Detection &amp; Threat Analysis</a:t>
            </a:r>
          </a:p>
          <a:p>
            <a:pPr algn="ctr">
              <a:spcBef>
                <a:spcPts val="40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Presented by: Prabhsimran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F59E0B"/>
                </a:solidFill>
                <a:latin typeface="Segoe UI"/>
              </a:defRPr>
            </a:pPr>
            <a:r>
              <a:t>Roll No: 2410987101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1. What is NIDS Sentinel?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🎯 The Core Mission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NIDS Sentinel is a state-of-the-art Network Intrusion Detection System built to passively monitor network traffic in real-time. It acts as a digital watchtower, scrutinizing every incoming packet for malicious signatures or anomalous behaviors without introducing latency.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834640"/>
            <a:ext cx="8229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A855F7"/>
                </a:solidFill>
                <a:latin typeface="Segoe UI"/>
              </a:defRPr>
            </a:pPr>
            <a:r>
              <a:t>🧠 Intelligence Layer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Unlike traditional rule-based firewalls, Sentinel leverages advanced Machine Learning (Random Forest) to eliminate false positives and detect zero-day anomalies by analyzing subtle pattern variations in network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480560"/>
            <a:ext cx="8229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🛡️ Actionable Security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It provides an immersive Glassmorphic dashboard that gives security analysts real-time visibility, automated mitigation strategies, and critical insights into the organization's network health.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2. 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⚡ Real-Time Sniffing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Utilizes Python's Scapy library to perform deep packet inspection (DPI). Captures raw TCP/UDP/ICMP packets seamlessly with sub-millisecond precision.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1887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EC4899"/>
                </a:solidFill>
                <a:latin typeface="Segoe UI"/>
              </a:defRPr>
            </a:pPr>
            <a:r>
              <a:t>🤖 AI Classification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Employs an optimized Random Forest classifier achieving 99.82% accuracy. Capable of classifying Normal, DoS, DDoS, Probe, and U2R attacks.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📊 Live Dashboard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Built on Next.js 16, featuring real-time dynamic Recharts that visualize traffic volume, attack frequency, and protocols instantaneously.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9319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🚨 Explainable AI Alerts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Bridges the gap between AI and humans. Provides exact reasoning (e.g., 'Unusual byte count') for why a specific packet was flagged.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3. System Architecture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1097280"/>
            <a:ext cx="2377440" cy="91440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🌐 Network Traffic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200" b="0">
                <a:solidFill>
                  <a:srgbClr val="CBD5E1"/>
                </a:solidFill>
                <a:latin typeface="Segoe UI"/>
              </a:defRPr>
            </a:pPr>
            <a:r>
              <a:t>Raw TCP/UDP Packets</a:t>
            </a:r>
          </a:p>
        </p:txBody>
      </p:sp>
      <p:sp>
        <p:nvSpPr>
          <p:cNvPr id="4" name="Down Arrow 3"/>
          <p:cNvSpPr/>
          <p:nvPr/>
        </p:nvSpPr>
        <p:spPr>
          <a:xfrm>
            <a:off x="4434840" y="2011680"/>
            <a:ext cx="274320" cy="228600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83280" y="2240280"/>
            <a:ext cx="2377440" cy="914400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🔍 Scapy Sniffer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Packet Capture &amp; Parsing</a:t>
            </a:r>
          </a:p>
        </p:txBody>
      </p:sp>
      <p:sp>
        <p:nvSpPr>
          <p:cNvPr id="6" name="Down Arrow 5"/>
          <p:cNvSpPr/>
          <p:nvPr/>
        </p:nvSpPr>
        <p:spPr>
          <a:xfrm>
            <a:off x="4434840" y="3154680"/>
            <a:ext cx="274320" cy="228600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3383280"/>
            <a:ext cx="2377440" cy="914400"/>
          </a:xfrm>
          <a:prstGeom prst="roundRect">
            <a:avLst/>
          </a:prstGeom>
          <a:solidFill>
            <a:srgbClr val="DB277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🧠 ML Engine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200" b="0">
                <a:solidFill>
                  <a:srgbClr val="CBD5E1"/>
                </a:solidFill>
                <a:latin typeface="Segoe UI"/>
              </a:defRPr>
            </a:pPr>
            <a:r>
              <a:t>Random Forest Inference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34840" y="4297680"/>
            <a:ext cx="274320" cy="228600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4526280"/>
            <a:ext cx="2377440" cy="9144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⚙️ FastAPI Backend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200" b="0">
                <a:solidFill>
                  <a:srgbClr val="CBD5E1"/>
                </a:solidFill>
                <a:latin typeface="Segoe UI"/>
              </a:defRPr>
            </a:pPr>
            <a:r>
              <a:t>Data Processing &amp; Sockets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806440"/>
            <a:ext cx="2011680" cy="914400"/>
          </a:xfrm>
          <a:prstGeom prst="roundRect">
            <a:avLst/>
          </a:prstGeom>
          <a:solidFill>
            <a:srgbClr val="D97706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🗄️ Database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SQLite / 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806440"/>
            <a:ext cx="2011680" cy="914400"/>
          </a:xfrm>
          <a:prstGeom prst="roundRect">
            <a:avLst/>
          </a:prstGeom>
          <a:solidFill>
            <a:srgbClr val="D97706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📊 Next.js UI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Live Dashboard View</a:t>
            </a:r>
          </a:p>
        </p:txBody>
      </p:sp>
      <p:sp>
        <p:nvSpPr>
          <p:cNvPr id="12" name="Down Arrow 11"/>
          <p:cNvSpPr/>
          <p:nvPr/>
        </p:nvSpPr>
        <p:spPr>
          <a:xfrm rot="2700000">
            <a:off x="2926080" y="5349240"/>
            <a:ext cx="182880" cy="365760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 rot="18900000">
            <a:off x="6035040" y="5349240"/>
            <a:ext cx="182880" cy="365760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1828800" cy="9144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🚨 Threat Alerts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200" b="0">
                <a:solidFill>
                  <a:srgbClr val="CBD5E1"/>
                </a:solidFill>
                <a:latin typeface="Segoe UI"/>
              </a:defRPr>
            </a:pPr>
            <a:r>
              <a:t>Immediate Action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52160" y="3749040"/>
            <a:ext cx="365760" cy="182880"/>
          </a:xfrm>
          <a:prstGeom prst="rightArrow">
            <a:avLst/>
          </a:prstGeom>
          <a:solidFill>
            <a:srgbClr val="64748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4.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🖥️ Frontend Technologies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Next.js 16 (React framework), TypeScript for type-safety, Tailwind CSS for utility-first styling, Recharts for dynamic SVG charts, and Framer Motion for smooth UI transitions.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822960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A855F7"/>
                </a:solidFill>
                <a:latin typeface="Segoe UI"/>
              </a:defRPr>
            </a:pPr>
            <a:r>
              <a:t>⚙️ Backend Architecture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FastAPI for highly performant asynchronous API endpoints, SQLAlchemy as the reliable ORM, and WebSockets for bidirectional real-time data streaming.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822960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🧠 Machine Learning Stack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Scikit-learn for model training (Random Forest), Pandas for data manipulation, and Joblib for extremely fast model serialization and inference.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303520"/>
            <a:ext cx="822960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🗄️ Networking &amp; Database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Scapy and PyPcap for low-level network packet capture. SQLite configuration for structured threat storage, fully scalable to PostgreSQL.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5. ML Model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9319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⚙️ Algorithm Choice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Random Forest Classifier was selected due to its robust resistance to overfitting and excellent performance on high-dimensional tabular network data. It handles non-linear relationships effectively.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188720"/>
            <a:ext cx="39319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📊 Dataset &amp; Training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Trained and validated on synthetic NSL-KDD datasets encompassing over 25,000 real-world attack vectors and normal traffic patterns to ensure diverse threat coverage.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822960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📈 Model Performance &amp; Metrics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500" b="0">
                <a:solidFill>
                  <a:srgbClr val="CBD5E1"/>
                </a:solidFill>
                <a:latin typeface="Segoe UI"/>
              </a:defRPr>
            </a:pPr>
            <a:r>
              <a:t>• Accuracy: 99.82%  |  Precision: 99.7%  |  Recall: 99.8%</a:t>
            </a:r>
            <a:br/>
            <a:r>
              <a:t>• Feature Extraction: 12 critical vectors including Protocol, TCP flags, byte counts, and connection error rates.</a:t>
            </a:r>
            <a:br/>
            <a:r>
              <a:t>• Inference Latency: Sub-10ms per packet, ensuring zero bottleneck in network 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6. Threat Detection in 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1️⃣ Step 1: Continuous Monitoring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The backend continuously ingests packets, extracts the 12 features, and runs inference. The dashboard listens via WebSockets for instantaneous updates.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822960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2️⃣ Step 2: Automated Alerting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When an anomaly is detected, it is immediately logged into the database and pushed to the UI with a severity score (Low, Medium, High, Critical).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822960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3️⃣ Step 3: Explainable AI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Security analysts can click on any alert to see the AI's rationale, such as identifying a sudden spike in SYN flags indicative of a SYN Flood attack.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303520"/>
            <a:ext cx="822960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4️⃣ Step 4: Actionable Insights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The system provides immediate mitigation recommendations and allows analysts to block malicious IPs dynamically.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7. The Dashboard UI Experience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✨ Glassmorphism Aesthetics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Employs modern frosted glass effects and semi-transparent layers to provide a premium, uncluttered, and highly readable view of complex security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1887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📈 Dynamic Visualizations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Integrates Recharts for fluid, live-updating line and bar charts. It maps traffic volume per second, protocol breakdowns, and historical threat trends.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8229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🌗 Responsive &amp; Adaptive Theming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Features a fully responsive design with native CSS variable theming, seamlessly switching between 'Deep Dark' and 'Clinical Light' modes for optimal visibility.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8. 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EC4899"/>
                </a:solidFill>
                <a:latin typeface="Segoe UI"/>
              </a:defRPr>
            </a:pPr>
            <a:r>
              <a:t>🚧 Active Prevention (IPS)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Evolving the system from purely passive detection (IDS) to an active Intrusion Prevention System (IPS) capable of modifying firewall rules autonomously.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1887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🧠 Deep Learning Models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Upgrading the inference engine with Long Short-Term Memory (LSTM) networks to detect highly complex, temporal, and multi-stage attack patterns.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8229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0" lIns="190500" rIns="190500"/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☁️ Cloud &amp; Enterprise Scale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defRPr sz="1300" b="0">
                <a:solidFill>
                  <a:srgbClr val="CBD5E1"/>
                </a:solidFill>
                <a:latin typeface="Segoe UI"/>
              </a:defRPr>
            </a:pPr>
            <a:r>
              <a:t>Deploying distributed sensor networks via Docker/Kubernetes and integrating with major SIEM tools (Splunk, ELK) for enterprise-grade deployments.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7315200" cy="411480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10B981"/>
                </a:solidFill>
                <a:latin typeface="Segoe UI"/>
              </a:defRPr>
            </a:pPr>
            <a:r>
              <a:t>Conclusion</a:t>
            </a:r>
          </a:p>
          <a:p>
            <a:pPr algn="ctr">
              <a:spcBef>
                <a:spcPts val="2000"/>
              </a:spcBef>
              <a:defRPr sz="1800" b="0">
                <a:solidFill>
                  <a:srgbClr val="E2E8F0"/>
                </a:solidFill>
                <a:latin typeface="Segoe UI"/>
              </a:defRPr>
            </a:pPr>
            <a:r>
              <a:t>NIDS Sentinel empowers organizations to defend against evolving cyber threats proactively with Explainable AI and Real-time data visualization.</a:t>
            </a:r>
          </a:p>
          <a:p>
            <a:pPr algn="ctr">
              <a:spcBef>
                <a:spcPts val="3000"/>
              </a:spcBef>
              <a:defRPr sz="3600" b="1">
                <a:solidFill>
                  <a:srgbClr val="38BDF8"/>
                </a:solidFill>
                <a:latin typeface="Segoe UI"/>
              </a:defRPr>
            </a:pPr>
            <a:r>
              <a:t>Questions?</a:t>
            </a:r>
          </a:p>
          <a:p>
            <a:pPr algn="ctr">
              <a:spcBef>
                <a:spcPts val="3000"/>
              </a:spcBef>
              <a:defRPr sz="1600" b="1">
                <a:solidFill>
                  <a:srgbClr val="F59E0B"/>
                </a:solidFill>
                <a:latin typeface="Segoe UI"/>
              </a:defRPr>
            </a:pPr>
            <a:r>
              <a:t>Prabhsimran  |  Roll No: 2410987101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